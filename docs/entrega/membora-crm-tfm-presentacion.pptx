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92040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585216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0754D6"/>
          </a:solidFill>
          <a:ln w="12700">
            <a:solidFill>
              <a:srgbClr val="075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70408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0352" y="1444752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Membora CRM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566928" y="254203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CRM SaaS para gimnasios desplegable en Plesk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3703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</a:rPr>
              <a:t>TFM · Aplicacion PHP monolitica · MariaDB · Web comercial conectada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0" y="1417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PHP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766560" y="18562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Produccion sin Node.js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8869680" y="1417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9D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SaaS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8869680" y="18562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Multiempresa con tenant_id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6766560" y="2880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766560" y="33192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modulos de demo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8869680" y="2880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54D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TFM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8869680" y="33192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documentacion completa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6766560" y="4956048"/>
            <a:ext cx="3931920" cy="27432"/>
          </a:xfrm>
          <a:prstGeom prst="rect">
            <a:avLst/>
          </a:prstGeom>
          <a:solidFill>
            <a:srgbClr val="0754D6"/>
          </a:solidFill>
          <a:ln w="12700">
            <a:solidFill>
              <a:srgbClr val="0754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5193792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</a:rPr>
              <a:t>Objetivo: demostrar una solucion funcional, mantenible y desplegable para la gestion comercial y operativa de centros fitness.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754D6"/>
          </a:solidFill>
          <a:ln w="12700">
            <a:solidFill>
              <a:srgbClr val="0754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75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MEMBORA CRM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378440" y="292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problema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9AAA"/>
                </a:solidFill>
              </a:rPr>
              <a:t>PROBLEMA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centros pequenos gestionan ventas y operacion con herramientas dispersas.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7373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El MVP reduce friccion diaria: captacion, socios, membresias, clases, pagos y seguimiento.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542032"/>
            <a:ext cx="28803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542032"/>
            <a:ext cx="64008" cy="1572768"/>
          </a:xfrm>
          <a:prstGeom prst="rect">
            <a:avLst/>
          </a:prstGeom>
          <a:solidFill>
            <a:srgbClr val="0754D6"/>
          </a:solidFill>
          <a:ln w="12700">
            <a:solidFill>
              <a:srgbClr val="0754D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7249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Captacion fragmentada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6968" y="3072384"/>
            <a:ext cx="2496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Leads recibidos por formularios, telefono o conversaciones sin seguimiento centralizado.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3840480" y="2542032"/>
            <a:ext cx="28803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2542032"/>
            <a:ext cx="64008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41648" y="27249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Operacion manual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041648" y="3072384"/>
            <a:ext cx="2496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Reservas, tareas, asistencia y estados de socio dependen de procesos poco conectados.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6995160" y="2542032"/>
            <a:ext cx="28803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0" y="2542032"/>
            <a:ext cx="64008" cy="15727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96328" y="27249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Poca trazabilidad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96328" y="3072384"/>
            <a:ext cx="2496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Sin auditoria ni alertas, cuesta saber que ocurre y quien hizo cada cambio.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822960" y="4800600"/>
            <a:ext cx="9326880" cy="713232"/>
          </a:xfrm>
          <a:prstGeom prst="round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5010912"/>
            <a:ext cx="886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La solucion no necesitaba mas complejidad tecnica: necesitaba un producto integrado y facil de desplegar.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2064" y="649224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TFM · Membora CRM · PHP / Plesk / MariaDB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92840" y="6492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754D6"/>
          </a:solidFill>
          <a:ln w="12700">
            <a:solidFill>
              <a:srgbClr val="0754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75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MEMBORA CRM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378440" y="292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solucion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9AAA"/>
                </a:solidFill>
              </a:rPr>
              <a:t>SOLUCION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Membora CRM conecta el ciclo completo: de lead a socio activo.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7373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La interfaz prioriza el recorrido operativo del gimnasio, no una coleccion aislada de pantallas.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2944368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35808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54D6"/>
                </a:solidFill>
              </a:rPr>
              <a:t>Lead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Pipeline, notas y conversion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2157984" y="3118104"/>
            <a:ext cx="438912" cy="0"/>
          </a:xfrm>
          <a:prstGeom prst="line">
            <a:avLst/>
          </a:prstGeom>
          <a:noFill/>
          <a:ln w="25400">
            <a:solidFill>
              <a:srgbClr val="D8E0E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34056" y="2944368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E9F8F0"/>
          </a:solidFill>
          <a:ln w="12700">
            <a:solidFill>
              <a:srgbClr val="E9F8F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07208" y="3035808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9D63"/>
                </a:solidFill>
              </a:rPr>
              <a:t>Socio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42616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Ficha, foto e historial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233672" y="3118104"/>
            <a:ext cx="438912" cy="0"/>
          </a:xfrm>
          <a:prstGeom prst="line">
            <a:avLst/>
          </a:prstGeom>
          <a:noFill/>
          <a:ln w="25400">
            <a:solidFill>
              <a:srgbClr val="D8E0E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809744" y="2944368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E8F7F8"/>
          </a:solidFill>
          <a:ln w="12700">
            <a:solidFill>
              <a:srgbClr val="E8F7F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2896" y="3035808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9AAA"/>
                </a:solidFill>
              </a:rPr>
              <a:t>Membresia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18304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Plan, precio y caducidad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309360" y="3118104"/>
            <a:ext cx="438912" cy="0"/>
          </a:xfrm>
          <a:prstGeom prst="line">
            <a:avLst/>
          </a:prstGeom>
          <a:noFill/>
          <a:ln w="25400">
            <a:solidFill>
              <a:srgbClr val="D8E0E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885432" y="2944368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FFF4DF"/>
          </a:solidFill>
          <a:ln w="12700">
            <a:solidFill>
              <a:srgbClr val="FFF4D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58584" y="3035808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Clase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93992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Calendario, reserva y asistencia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8385048" y="3118104"/>
            <a:ext cx="438912" cy="0"/>
          </a:xfrm>
          <a:prstGeom prst="line">
            <a:avLst/>
          </a:prstGeom>
          <a:noFill/>
          <a:ln w="25400">
            <a:solidFill>
              <a:srgbClr val="D8E0EC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961120" y="2944368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34272" y="3035808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33"/>
                </a:solidFill>
              </a:rPr>
              <a:t>Retencion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69680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Alertas, tareas y auditoria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1234440" y="51663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33"/>
                </a:solidFill>
              </a:rPr>
              <a:t>El administrador ve el negocio completo; recepcion y entrenadores trabajan sobre el mismo dato filtrado por tenant.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2064" y="649224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TFM · Membora CRM · PHP / Plesk / MariaDB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292840" y="6492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754D6"/>
          </a:solidFill>
          <a:ln w="12700">
            <a:solidFill>
              <a:srgbClr val="0754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75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MEMBORA CRM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378440" y="292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arquitectura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9AAA"/>
                </a:solidFill>
              </a:rPr>
              <a:t>ARQUITECTURA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decision clave fue simplificar produccion a PHP + MariaDB.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7373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El proyecto abandona procesos Node en produccion para encajar con Plesk y reducir riesgo operativo.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468880"/>
            <a:ext cx="233172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468880"/>
            <a:ext cx="64008" cy="148132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6517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Web comercial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6968" y="2999232"/>
            <a:ext cx="1947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Sitio estatico en web-app/public. Formulario conectado al webhook del CRM.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3429000" y="2468880"/>
            <a:ext cx="233172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2468880"/>
            <a:ext cx="64008" cy="1481328"/>
          </a:xfrm>
          <a:prstGeom prst="rect">
            <a:avLst/>
          </a:prstGeom>
          <a:solidFill>
            <a:srgbClr val="0754D6"/>
          </a:solidFill>
          <a:ln w="12700">
            <a:solidFill>
              <a:srgbClr val="0754D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0168" y="26517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CRM PHP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30168" y="2999232"/>
            <a:ext cx="1947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Entrada unica index.php, acciones POST y vistas PHP renderizadas en servidor.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6172200" y="2468880"/>
            <a:ext cx="233172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468880"/>
            <a:ext cx="64008" cy="1481328"/>
          </a:xfrm>
          <a:prstGeom prst="rect">
            <a:avLst/>
          </a:prstGeom>
          <a:solidFill>
            <a:srgbClr val="1F9D63"/>
          </a:solidFill>
          <a:ln w="12700">
            <a:solidFill>
              <a:srgbClr val="1F9D6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368" y="26517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MariaDB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73368" y="2999232"/>
            <a:ext cx="1947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Base compartida con aislamiento logico por tenant_id y consultas PDO.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8915400" y="2468880"/>
            <a:ext cx="233172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15400" y="2468880"/>
            <a:ext cx="64008" cy="14813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16568" y="26517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Plesk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16568" y="2999232"/>
            <a:ext cx="1947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Document root php-app/public. Sin npm install, build ni Prisma.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914400" y="45720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POST /webhook/lead  →  platform_leads  →  Admin CRM  →  tenant conectado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154680" y="5166360"/>
            <a:ext cx="5074920" cy="43891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5303520"/>
            <a:ext cx="4709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54D6"/>
                </a:solidFill>
              </a:rPr>
              <a:t>Arquitectura elegida por mantenibilidad, despliegue y evaluacion academica.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12064" y="649224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TFM · Membora CRM · PHP / Plesk / MariaDB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292840" y="6492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754D6"/>
          </a:solidFill>
          <a:ln w="12700">
            <a:solidFill>
              <a:srgbClr val="0754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75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MEMBORA CRM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378440" y="292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modulos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9AAA"/>
                </a:solidFill>
              </a:rPr>
              <a:t>ALCANCE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MVP cubre operacion diaria, seguimiento comercial y control de riesgo.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7373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Los modulos se organizan por trabajo real del gimnasio.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514600"/>
            <a:ext cx="41605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514600"/>
            <a:ext cx="530352" cy="1024128"/>
          </a:xfrm>
          <a:prstGeom prst="rect">
            <a:avLst/>
          </a:prstGeom>
          <a:solidFill>
            <a:srgbClr val="0754D6"/>
          </a:solidFill>
          <a:ln w="12700">
            <a:solidFill>
              <a:srgbClr val="0754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697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</a:rPr>
              <a:t>Comercial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30449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Leads, pipeline, notas y conversion a socio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60720" y="2514600"/>
            <a:ext cx="41605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0" y="2514600"/>
            <a:ext cx="530352" cy="1024128"/>
          </a:xfrm>
          <a:prstGeom prst="rect">
            <a:avLst/>
          </a:prstGeom>
          <a:solidFill>
            <a:srgbClr val="1F9D63"/>
          </a:solidFill>
          <a:ln w="12700">
            <a:solidFill>
              <a:srgbClr val="1F9D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697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</a:rPr>
              <a:t>Socios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30449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Ficha, foto, estado, membresias e historial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3931920"/>
            <a:ext cx="41605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931920"/>
            <a:ext cx="530352" cy="102412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4114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</a:rPr>
              <a:t>Operacion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44622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Clases, calendario, reservas y check-ins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60720" y="3931920"/>
            <a:ext cx="41605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3931920"/>
            <a:ext cx="530352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114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</a:rPr>
              <a:t>Control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44622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Pagos, tareas, alertas y auditoria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887968" y="12252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54D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100%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8887968" y="16642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MVP documentado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512064" y="649224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TFM · Membora CRM · PHP / Plesk / MariaDB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292840" y="6492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754D6"/>
          </a:solidFill>
          <a:ln w="12700">
            <a:solidFill>
              <a:srgbClr val="0754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75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MEMBORA CRM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378440" y="292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saas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9AAA"/>
                </a:solidFill>
              </a:rPr>
              <a:t>PLATAFORMA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Admin CRM separa la gestion SaaS del trabajo del gimnasio.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7373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La plataforma gestiona captacion comercial, empresas cliente, planes y soporte.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2359152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468880"/>
            <a:ext cx="64008" cy="1755648"/>
          </a:xfrm>
          <a:prstGeom prst="rect">
            <a:avLst/>
          </a:prstGeom>
          <a:solidFill>
            <a:srgbClr val="0754D6"/>
          </a:solidFill>
          <a:ln w="12700">
            <a:solidFill>
              <a:srgbClr val="0754D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65176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Captacion web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2688" y="2999232"/>
            <a:ext cx="1975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platform_leads recibe solicitudes desde la web publica y registra logs tecnicos.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3474720" y="2468880"/>
            <a:ext cx="2359152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2468880"/>
            <a:ext cx="64008" cy="1755648"/>
          </a:xfrm>
          <a:prstGeom prst="rect">
            <a:avLst/>
          </a:prstGeom>
          <a:solidFill>
            <a:srgbClr val="1F9D63"/>
          </a:solidFill>
          <a:ln w="12700">
            <a:solidFill>
              <a:srgbClr val="1F9D6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5888" y="265176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Clientes y empresas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75888" y="2999232"/>
            <a:ext cx="1975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Conversion de lead a cliente, alta de empresa y creacion de tenant conectado.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6217920" y="2468880"/>
            <a:ext cx="2359152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468880"/>
            <a:ext cx="64008" cy="17556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265176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Planes y pagos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19088" y="2999232"/>
            <a:ext cx="1975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Catalogo SaaS, pagos por empresa, MRR, ARR y seguimiento de cobros.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8961120" y="2468880"/>
            <a:ext cx="2359152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0" y="2468880"/>
            <a:ext cx="64008" cy="175564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62288" y="265176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Modo soporte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62288" y="2999232"/>
            <a:ext cx="1975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El superadmin entra en un tenant conectado y puede volver a Admin CRM.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1143000" y="5102352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33"/>
                </a:solidFill>
              </a:rPr>
              <a:t>Resultado: una misma aplicacion sirve al gimnasio y a la administracion de la plataforma.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2064" y="649224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TFM · Membora CRM · PHP / Plesk / MariaDB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292840" y="6492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754D6"/>
          </a:solidFill>
          <a:ln w="12700">
            <a:solidFill>
              <a:srgbClr val="0754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75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MEMBORA CRM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378440" y="292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datos y seguridad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9AAA"/>
                </a:solidFill>
              </a:rPr>
              <a:t>SEGURIDAD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control se apoya en tenant_id, permisos y auditoria.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7373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La seguridad del MVP se basa en defensa por capas, no en una unica barrera.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606040"/>
            <a:ext cx="221284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606040"/>
            <a:ext cx="64008" cy="1600200"/>
          </a:xfrm>
          <a:prstGeom prst="rect">
            <a:avLst/>
          </a:prstGeom>
          <a:solidFill>
            <a:srgbClr val="0754D6"/>
          </a:solidFill>
          <a:ln w="12700">
            <a:solidFill>
              <a:srgbClr val="0754D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78892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Aislamiento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69848" y="3136392"/>
            <a:ext cx="18288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Cada consulta operativa filtra por tenant_id obtenido de la sesion.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3538728" y="2606040"/>
            <a:ext cx="221284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38728" y="2606040"/>
            <a:ext cx="64008" cy="1600200"/>
          </a:xfrm>
          <a:prstGeom prst="rect">
            <a:avLst/>
          </a:prstGeom>
          <a:solidFill>
            <a:srgbClr val="1F9D63"/>
          </a:solidFill>
          <a:ln w="12700">
            <a:solidFill>
              <a:srgbClr val="1F9D6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9896" y="278892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PDO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39896" y="3136392"/>
            <a:ext cx="18288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Consultas preparadas para reducir SQL injection.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6208776" y="2606040"/>
            <a:ext cx="221284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08776" y="2606040"/>
            <a:ext cx="64008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9944" y="278892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Permisos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9944" y="3136392"/>
            <a:ext cx="18288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Matriz por rol para rutas y acciones POST.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8878824" y="2606040"/>
            <a:ext cx="221284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78824" y="2606040"/>
            <a:ext cx="64008" cy="16002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79992" y="278892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Auditoria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079992" y="3136392"/>
            <a:ext cx="18288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Registro de usuario, ruta, IP, accion y datos sanitizados.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1554480" y="4919472"/>
            <a:ext cx="8046720" cy="530352"/>
          </a:xfrm>
          <a:prstGeom prst="round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83080" y="5102352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Los logs y la auditoria convierten los errores en informacion accionable.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2064" y="649224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TFM · Membora CRM · PHP / Plesk / MariaDB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292840" y="6492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754D6"/>
          </a:solidFill>
          <a:ln w="12700">
            <a:solidFill>
              <a:srgbClr val="0754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75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MEMBORA CRM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378440" y="292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incidencias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9AAA"/>
                </a:solidFill>
              </a:rPr>
              <a:t>APRENDIZAJE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incidencias se resolvieron reduciendo complejidad y centralizando reglas.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7373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El TFM documenta errores, causa raiz y soluciones aplicadas.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468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033"/>
                </a:solidFill>
              </a:rPr>
              <a:t>Despliegue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291840" y="2615184"/>
            <a:ext cx="3749040" cy="0"/>
          </a:xfrm>
          <a:prstGeom prst="line">
            <a:avLst/>
          </a:prstGeom>
          <a:noFill/>
          <a:ln w="25400">
            <a:solidFill>
              <a:srgbClr val="D8E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69480" y="24688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754D6"/>
                </a:solidFill>
              </a:rPr>
              <a:t>Node/Prisma → PHP monolitico en Plesk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51560" y="3108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033"/>
                </a:solidFill>
              </a:rPr>
              <a:t>Datos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3291840" y="3255264"/>
            <a:ext cx="3749040" cy="0"/>
          </a:xfrm>
          <a:prstGeom prst="line">
            <a:avLst/>
          </a:prstGeom>
          <a:noFill/>
          <a:ln w="25400">
            <a:solidFill>
              <a:srgbClr val="D8E0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31089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754D6"/>
                </a:solidFill>
              </a:rPr>
              <a:t>Migraciones externas → ensureTable/ensureColumn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51560" y="3749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033"/>
                </a:solidFill>
              </a:rPr>
              <a:t>UX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3291840" y="3895344"/>
            <a:ext cx="3749040" cy="0"/>
          </a:xfrm>
          <a:prstGeom prst="line">
            <a:avLst/>
          </a:prstGeom>
          <a:noFill/>
          <a:ln w="25400">
            <a:solidFill>
              <a:srgbClr val="D8E0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37490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754D6"/>
                </a:solidFill>
              </a:rPr>
              <a:t>Codigos internos → etiquetas legibles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51560" y="4389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033"/>
                </a:solidFill>
              </a:rPr>
              <a:t>Operativa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3291840" y="4535424"/>
            <a:ext cx="3749040" cy="0"/>
          </a:xfrm>
          <a:prstGeom prst="line">
            <a:avLst/>
          </a:prstGeom>
          <a:noFill/>
          <a:ln w="25400">
            <a:solidFill>
              <a:srgbClr val="D8E0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43891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754D6"/>
                </a:solidFill>
              </a:rPr>
              <a:t>Modulos sueltos → flujos conectados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51560" y="5029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033"/>
                </a:solidFill>
              </a:rPr>
              <a:t>Control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3291840" y="5175504"/>
            <a:ext cx="3749040" cy="0"/>
          </a:xfrm>
          <a:prstGeom prst="line">
            <a:avLst/>
          </a:prstGeom>
          <a:noFill/>
          <a:ln w="25400">
            <a:solidFill>
              <a:srgbClr val="D8E0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50292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754D6"/>
                </a:solidFill>
              </a:rPr>
              <a:t>Roles teoricos → permisos backend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12064" y="649224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TFM · Membora CRM · PHP / Plesk / MariaDB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292840" y="6492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754D6"/>
          </a:solidFill>
          <a:ln w="12700">
            <a:solidFill>
              <a:srgbClr val="0754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75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MEMBORA CRM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378440" y="292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demo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9AAA"/>
                </a:solidFill>
              </a:rPr>
              <a:t>DEMO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demo debe recorrer el ciclo completo y cerrar en Admin CRM.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7373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El recorrido recomendado demuestra valor de producto y arquitectura SaaS.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2395728"/>
            <a:ext cx="530352" cy="530352"/>
          </a:xfrm>
          <a:prstGeom prst="ellipse">
            <a:avLst/>
          </a:prstGeom>
          <a:solidFill>
            <a:srgbClr val="0754D6"/>
          </a:solidFill>
          <a:ln w="12700">
            <a:solidFill>
              <a:srgbClr val="0754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5420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691640" y="24871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033"/>
                </a:solidFill>
              </a:rPr>
              <a:t>Login admin gimnasio y dashboard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35040" y="2395728"/>
            <a:ext cx="530352" cy="530352"/>
          </a:xfrm>
          <a:prstGeom prst="ellipse">
            <a:avLst/>
          </a:prstGeom>
          <a:solidFill>
            <a:srgbClr val="0754D6"/>
          </a:solidFill>
          <a:ln w="12700">
            <a:solidFill>
              <a:srgbClr val="0754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9632" y="25420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766560" y="24871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033"/>
                </a:solidFill>
              </a:rPr>
              <a:t>Lead → nota → conversion a socio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60120" y="3401568"/>
            <a:ext cx="530352" cy="530352"/>
          </a:xfrm>
          <a:prstGeom prst="ellipse">
            <a:avLst/>
          </a:prstGeom>
          <a:solidFill>
            <a:srgbClr val="0754D6"/>
          </a:solidFill>
          <a:ln w="12700">
            <a:solidFill>
              <a:srgbClr val="0754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354787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3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691640" y="34930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033"/>
                </a:solidFill>
              </a:rPr>
              <a:t>Membresia, pago, facturacion y check-in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035040" y="3401568"/>
            <a:ext cx="530352" cy="530352"/>
          </a:xfrm>
          <a:prstGeom prst="ellipse">
            <a:avLst/>
          </a:prstGeom>
          <a:solidFill>
            <a:srgbClr val="1F9D63"/>
          </a:solidFill>
          <a:ln w="12700">
            <a:solidFill>
              <a:srgbClr val="1F9D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354787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4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766560" y="34930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033"/>
                </a:solidFill>
              </a:rPr>
              <a:t>Clase, reserva, asistencia y tarea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60120" y="4407408"/>
            <a:ext cx="530352" cy="530352"/>
          </a:xfrm>
          <a:prstGeom prst="ellipse">
            <a:avLst/>
          </a:prstGeom>
          <a:solidFill>
            <a:srgbClr val="1F9D63"/>
          </a:solidFill>
          <a:ln w="12700">
            <a:solidFill>
              <a:srgbClr val="1F9D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4712" y="455371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5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691640" y="44988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033"/>
                </a:solidFill>
              </a:rPr>
              <a:t>Alertas, auditoria, usuarios y permisos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035040" y="4407408"/>
            <a:ext cx="530352" cy="530352"/>
          </a:xfrm>
          <a:prstGeom prst="ellipse">
            <a:avLst/>
          </a:prstGeom>
          <a:solidFill>
            <a:srgbClr val="1F9D63"/>
          </a:solidFill>
          <a:ln w="12700">
            <a:solidFill>
              <a:srgbClr val="1F9D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455371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6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766560" y="44988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033"/>
                </a:solidFill>
              </a:rPr>
              <a:t>Admin CRM: web, empresas, pagos y soporte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12064" y="649224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TFM · Membora CRM · PHP / Plesk / MariaDB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292840" y="6492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754D6"/>
          </a:solidFill>
          <a:ln w="12700">
            <a:solidFill>
              <a:srgbClr val="0754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75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MEMBORA CRM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378440" y="292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cierre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9AAA"/>
                </a:solidFill>
              </a:rPr>
              <a:t>ESTADO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MVP queda funcional; el cierre depende de validacion, slides y video.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7373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La pasarela de pago real queda como linea futura fuera del alcance actual.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514600"/>
            <a:ext cx="28346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514600"/>
            <a:ext cx="64008" cy="1691640"/>
          </a:xfrm>
          <a:prstGeom prst="rect">
            <a:avLst/>
          </a:prstGeom>
          <a:solidFill>
            <a:srgbClr val="0754D6"/>
          </a:solidFill>
          <a:ln w="12700">
            <a:solidFill>
              <a:srgbClr val="0754D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697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Entregable tecnico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15568" y="3044952"/>
            <a:ext cx="24505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Aplicacion PHP, web comercial, documentacion, credenciales demo y repositorio GitHub.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4315968" y="2514600"/>
            <a:ext cx="28346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15968" y="2514600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17136" y="2697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Validacion final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17136" y="3044952"/>
            <a:ext cx="24505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Probar Plesk, login, formulario web, SMTP, uploads y recorrido de demo.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7726680" y="2514600"/>
            <a:ext cx="28346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2514600"/>
            <a:ext cx="64008" cy="1691640"/>
          </a:xfrm>
          <a:prstGeom prst="rect">
            <a:avLst/>
          </a:prstGeom>
          <a:solidFill>
            <a:srgbClr val="1F9D63"/>
          </a:solidFill>
          <a:ln w="12700">
            <a:solidFill>
              <a:srgbClr val="1F9D6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27848" y="2697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Linea futura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27848" y="3044952"/>
            <a:ext cx="24505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Pasarela de pagos real, portal de socios, app movil y multi-sede avanzada.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1325880" y="5102352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033"/>
                </a:solidFill>
              </a:rPr>
              <a:t>Membora CRM demuestra una solucion SaaS completa y desplegable para pequenos y medianos centros fitness.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12064" y="649224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TFM · Membora CRM · PHP / Plesk / MariaDB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92840" y="6492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Membora CRM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Membora CRM - Presentacion TFM</dc:title>
  <dc:subject>TFM Membora CRM</dc:subject>
  <dc:creator>Jose Hurtado</dc:creator>
  <cp:lastModifiedBy>Jose Hurtado</cp:lastModifiedBy>
  <cp:revision>1</cp:revision>
  <dcterms:created xsi:type="dcterms:W3CDTF">2026-07-02T06:18:18Z</dcterms:created>
  <dcterms:modified xsi:type="dcterms:W3CDTF">2026-07-02T06:18:18Z</dcterms:modified>
</cp:coreProperties>
</file>